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db300f7e0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db300f7e0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db300f7e0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db300f7e0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db300f7e0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db300f7e0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db300f7e0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db300f7e0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db300f7e0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db300f7e0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db300f7e0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db300f7e0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db300f7e0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db300f7e0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db300f7e0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db300f7e0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15f1184f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15f1184f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db300f7e0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db300f7e0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Vtz2sGZHWbatUBNtXi97Z4J44mwwmuoE/view" TargetMode="External"/><Relationship Id="rId4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368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ChainMind ChatBot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Final Project - Ironhack AI Engineer Bootcamp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Sofia Zogkza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2" y="744575"/>
            <a:ext cx="1155508" cy="136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6792" y="744575"/>
            <a:ext cx="1155508" cy="136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3300"/>
              <a:t>Overview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1"/>
                </a:solidFill>
              </a:rPr>
              <a:t>🔥 What I Built: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500">
                <a:solidFill>
                  <a:schemeClr val="dk1"/>
                </a:solidFill>
              </a:rPr>
              <a:t>An autonomous </a:t>
            </a:r>
            <a:r>
              <a:rPr b="1" lang="el" sz="1500">
                <a:solidFill>
                  <a:schemeClr val="dk1"/>
                </a:solidFill>
              </a:rPr>
              <a:t>AI tutor</a:t>
            </a:r>
            <a:r>
              <a:rPr lang="el" sz="1500">
                <a:solidFill>
                  <a:schemeClr val="dk1"/>
                </a:solidFill>
              </a:rPr>
              <a:t> trained on expert YouTube videos about blockchain gaming. It learns the content, stores it in a vector database, retrieves the right information with RAG precision, maintains conversation memory like ChatGPT, and performs live internet searches when the videos don’t cover something.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500">
                <a:solidFill>
                  <a:schemeClr val="dk1"/>
                </a:solidFill>
              </a:rPr>
              <a:t>Using agent reasoning and function-calling, it automatically chooses the best tool RAG, memory, or search to deliver clear, accurate explanations.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l" sz="1500">
                <a:solidFill>
                  <a:schemeClr val="dk1"/>
                </a:solidFill>
              </a:rPr>
              <a:t>A fully end-to-end system, from data extraction to interactive UI, designed like the intelligent tutoring engines used in modern AI products.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l" sz="3300"/>
              <a:t>Architecture Overview - Intelligent Video QA Pipeline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2875475"/>
            <a:ext cx="85206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2691"/>
              <a:buFont typeface="Arial"/>
              <a:buNone/>
            </a:pPr>
            <a:r>
              <a:rPr b="1" lang="el" sz="2087">
                <a:solidFill>
                  <a:schemeClr val="dk1"/>
                </a:solidFill>
              </a:rPr>
              <a:t>PROCESS FLOW:</a:t>
            </a:r>
            <a:endParaRPr b="1" sz="208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2321"/>
              <a:buFont typeface="Arial"/>
              <a:buNone/>
            </a:pPr>
            <a:r>
              <a:rPr b="1" lang="el" sz="2102">
                <a:solidFill>
                  <a:schemeClr val="dk1"/>
                </a:solidFill>
              </a:rPr>
              <a:t>YouTube Videos → Transcripts → Chunking → Embeddings → Pinecone Vector DB → RAG Engine → Agent Layer → Final Answer</a:t>
            </a:r>
            <a:endParaRPr b="1" sz="210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1709300"/>
            <a:ext cx="85206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l" sz="1300">
                <a:solidFill>
                  <a:schemeClr val="dk1"/>
                </a:solidFill>
              </a:rPr>
              <a:t>From raw videos to precise, real-time answers.</a:t>
            </a:r>
            <a:endParaRPr b="1" i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3300"/>
              <a:t>RAG Engine</a:t>
            </a:r>
            <a:endParaRPr sz="3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78950"/>
            <a:ext cx="4260300" cy="3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dk1"/>
                </a:solidFill>
              </a:rPr>
              <a:t>Indexing Phase (Offline / Pre-processing)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400">
                <a:solidFill>
                  <a:schemeClr val="dk1"/>
                </a:solidFill>
              </a:rPr>
              <a:t>This part upserts transcript chunks into Pinecone: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l" sz="1400">
                <a:solidFill>
                  <a:schemeClr val="dk1"/>
                </a:solidFill>
              </a:rPr>
              <a:t>Chunk text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l" sz="1400">
                <a:solidFill>
                  <a:schemeClr val="dk1"/>
                </a:solidFill>
              </a:rPr>
              <a:t>Embed chunks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l" sz="1400">
                <a:solidFill>
                  <a:schemeClr val="dk1"/>
                </a:solidFill>
              </a:rPr>
              <a:t>Store embeddings + metadata in Pinecone</a:t>
            </a:r>
            <a:endParaRPr sz="1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l" sz="1400">
                <a:solidFill>
                  <a:schemeClr val="dk1"/>
                </a:solidFill>
              </a:rPr>
              <a:t>It runs once (or whenever there is an updated).</a:t>
            </a:r>
            <a:br>
              <a:rPr lang="el" sz="1400">
                <a:solidFill>
                  <a:schemeClr val="dk1"/>
                </a:solidFill>
              </a:rPr>
            </a:br>
            <a:r>
              <a:rPr lang="el" sz="1400">
                <a:solidFill>
                  <a:schemeClr val="dk1"/>
                </a:solidFill>
              </a:rPr>
              <a:t>It is NOT part of the live chatbot.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941000" y="1178950"/>
            <a:ext cx="3891300" cy="3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1"/>
                </a:solidFill>
              </a:rPr>
              <a:t>Retrieval Phase (Online / Query-time)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solidFill>
                  <a:schemeClr val="dk1"/>
                </a:solidFill>
              </a:rPr>
              <a:t>This part runs </a:t>
            </a:r>
            <a:r>
              <a:rPr b="1" lang="el">
                <a:solidFill>
                  <a:schemeClr val="dk1"/>
                </a:solidFill>
              </a:rPr>
              <a:t>every time the user asks a question</a:t>
            </a:r>
            <a:r>
              <a:rPr lang="el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l">
                <a:solidFill>
                  <a:schemeClr val="dk1"/>
                </a:solidFill>
              </a:rPr>
              <a:t>Embed the user query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l">
                <a:solidFill>
                  <a:schemeClr val="dk1"/>
                </a:solidFill>
              </a:rPr>
              <a:t>Retrieve top-k(7) relevant chunks from Pinecone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l">
                <a:solidFill>
                  <a:schemeClr val="dk1"/>
                </a:solidFill>
              </a:rPr>
              <a:t>Pass them into the LLM to generate the final grounded answer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solidFill>
                  <a:schemeClr val="dk1"/>
                </a:solidFill>
              </a:rPr>
              <a:t>👉 This phase </a:t>
            </a:r>
            <a:r>
              <a:rPr b="1" lang="el">
                <a:solidFill>
                  <a:schemeClr val="dk1"/>
                </a:solidFill>
              </a:rPr>
              <a:t>IS</a:t>
            </a:r>
            <a:r>
              <a:rPr lang="el">
                <a:solidFill>
                  <a:schemeClr val="dk1"/>
                </a:solidFill>
              </a:rPr>
              <a:t> the actual “RAG engine”.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of stored chunk: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174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Actual metadata 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l"/>
              <a:t>The </a:t>
            </a:r>
            <a:r>
              <a:rPr lang="el">
                <a:latin typeface="Courier New"/>
                <a:ea typeface="Courier New"/>
                <a:cs typeface="Courier New"/>
                <a:sym typeface="Courier New"/>
              </a:rPr>
              <a:t>text-chunk</a:t>
            </a:r>
            <a:r>
              <a:rPr lang="el"/>
              <a:t> brought better results than the </a:t>
            </a:r>
            <a:r>
              <a:rPr lang="el">
                <a:latin typeface="Courier New"/>
                <a:ea typeface="Courier New"/>
                <a:cs typeface="Courier New"/>
                <a:sym typeface="Courier New"/>
              </a:rPr>
              <a:t>summary</a:t>
            </a:r>
            <a:r>
              <a:rPr lang="el"/>
              <a:t> at this point.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8425" y="1452563"/>
            <a:ext cx="516255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l" sz="3300"/>
              <a:t>Agent Layer</a:t>
            </a:r>
            <a:endParaRPr sz="3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2058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l" sz="1500">
                <a:solidFill>
                  <a:schemeClr val="dk1"/>
                </a:solidFill>
              </a:rPr>
              <a:t>Retrieves accurate answers</a:t>
            </a:r>
            <a:r>
              <a:rPr lang="el" sz="1500">
                <a:solidFill>
                  <a:schemeClr val="dk1"/>
                </a:solidFill>
              </a:rPr>
              <a:t> using a full RAG pipeline (Pinecone vector search + OpenAI embeddings).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l" sz="1500">
                <a:solidFill>
                  <a:schemeClr val="dk1"/>
                </a:solidFill>
              </a:rPr>
              <a:t>Maintains conversational memory</a:t>
            </a:r>
            <a:r>
              <a:rPr lang="el" sz="1500">
                <a:solidFill>
                  <a:schemeClr val="dk1"/>
                </a:solidFill>
              </a:rPr>
              <a:t> to understand context and keep conversations coherent.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l" sz="1500">
                <a:solidFill>
                  <a:schemeClr val="dk1"/>
                </a:solidFill>
              </a:rPr>
              <a:t>Automatically </a:t>
            </a:r>
            <a:r>
              <a:rPr b="1" lang="el" sz="1500">
                <a:solidFill>
                  <a:schemeClr val="dk1"/>
                </a:solidFill>
              </a:rPr>
              <a:t>detects follow-up questions</a:t>
            </a:r>
            <a:r>
              <a:rPr lang="el" sz="1500">
                <a:solidFill>
                  <a:schemeClr val="dk1"/>
                </a:solidFill>
              </a:rPr>
              <a:t> and responds from memory without re-running RAG or search.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l" sz="1500">
                <a:solidFill>
                  <a:schemeClr val="dk1"/>
                </a:solidFill>
              </a:rPr>
              <a:t>Falls back</a:t>
            </a:r>
            <a:r>
              <a:rPr lang="el" sz="1500">
                <a:solidFill>
                  <a:schemeClr val="dk1"/>
                </a:solidFill>
              </a:rPr>
              <a:t> to internet search (SerpAPI) when RAG cannot answer, expanding knowledge beyond the dataset.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l" sz="1500">
                <a:solidFill>
                  <a:schemeClr val="dk1"/>
                </a:solidFill>
              </a:rPr>
              <a:t>Uses OpenAI function-calling</a:t>
            </a:r>
            <a:r>
              <a:rPr lang="el" sz="1500">
                <a:solidFill>
                  <a:schemeClr val="dk1"/>
                </a:solidFill>
              </a:rPr>
              <a:t> as an Agent to decide when to trigger external tools.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l" sz="1500">
                <a:solidFill>
                  <a:schemeClr val="dk1"/>
                </a:solidFill>
              </a:rPr>
              <a:t>Combines RAG + Memory + Search</a:t>
            </a:r>
            <a:r>
              <a:rPr lang="el" sz="1500">
                <a:solidFill>
                  <a:schemeClr val="dk1"/>
                </a:solidFill>
              </a:rPr>
              <a:t> into a hybrid intelligent agent, selecting the best source dynamically for each query.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1190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l" sz="1800"/>
              <a:t>Custom, lightweight agent in python</a:t>
            </a:r>
            <a:r>
              <a:rPr i="1" lang="el" sz="1800"/>
              <a:t> | chooses between </a:t>
            </a:r>
            <a:r>
              <a:rPr b="1" i="1" lang="el" sz="1800"/>
              <a:t>RAG</a:t>
            </a:r>
            <a:r>
              <a:rPr i="1" lang="el" sz="1800"/>
              <a:t>, </a:t>
            </a:r>
            <a:r>
              <a:rPr b="1" i="1" lang="el" sz="1800"/>
              <a:t>memory</a:t>
            </a:r>
            <a:r>
              <a:rPr i="1" lang="el" sz="1800"/>
              <a:t>, and </a:t>
            </a:r>
            <a:r>
              <a:rPr b="1" i="1" lang="el" sz="1800"/>
              <a:t>internet search (SerpAPI) based on logic</a:t>
            </a:r>
            <a:endParaRPr i="1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l" sz="3300"/>
              <a:t>Technical Summary</a:t>
            </a:r>
            <a:endParaRPr sz="3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222075"/>
            <a:ext cx="8520600" cy="39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l" sz="2000">
                <a:solidFill>
                  <a:schemeClr val="dk1"/>
                </a:solidFill>
              </a:rPr>
              <a:t>Dataset &amp; Extraction</a:t>
            </a:r>
            <a:r>
              <a:rPr lang="el" sz="2000">
                <a:solidFill>
                  <a:schemeClr val="dk1"/>
                </a:solidFill>
              </a:rPr>
              <a:t>: 4 YouTube videos |duration each 5-30 min | Blockchain related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l" sz="2000">
                <a:solidFill>
                  <a:schemeClr val="dk1"/>
                </a:solidFill>
              </a:rPr>
              <a:t>Processing</a:t>
            </a:r>
            <a:r>
              <a:rPr lang="el" sz="2000">
                <a:solidFill>
                  <a:schemeClr val="dk1"/>
                </a:solidFill>
              </a:rPr>
              <a:t>: </a:t>
            </a:r>
            <a:r>
              <a:rPr lang="el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yt-dlp</a:t>
            </a:r>
            <a:r>
              <a:rPr lang="el" sz="2000">
                <a:solidFill>
                  <a:schemeClr val="dk1"/>
                </a:solidFill>
              </a:rPr>
              <a:t> caption extraction | cleaning: regex, normalization (NFKC), punctuation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l" sz="2000">
                <a:solidFill>
                  <a:schemeClr val="dk1"/>
                </a:solidFill>
              </a:rPr>
              <a:t>Embeddings</a:t>
            </a:r>
            <a:r>
              <a:rPr lang="el" sz="2000">
                <a:solidFill>
                  <a:schemeClr val="dk1"/>
                </a:solidFill>
              </a:rPr>
              <a:t>:</a:t>
            </a:r>
            <a:r>
              <a:rPr lang="el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text-embedding-3-small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l" sz="2000">
                <a:solidFill>
                  <a:schemeClr val="dk1"/>
                </a:solidFill>
              </a:rPr>
              <a:t>Vector DB</a:t>
            </a:r>
            <a:r>
              <a:rPr lang="el" sz="2000">
                <a:solidFill>
                  <a:schemeClr val="dk1"/>
                </a:solidFill>
              </a:rPr>
              <a:t>: Pinecone v</a:t>
            </a:r>
            <a:r>
              <a:rPr lang="el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7.3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l" sz="2000">
                <a:solidFill>
                  <a:schemeClr val="dk1"/>
                </a:solidFill>
              </a:rPr>
              <a:t>LLM</a:t>
            </a:r>
            <a:r>
              <a:rPr lang="el" sz="2000">
                <a:solidFill>
                  <a:schemeClr val="dk1"/>
                </a:solidFill>
              </a:rPr>
              <a:t>: </a:t>
            </a:r>
            <a:r>
              <a:rPr lang="el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gpt-3.5-turbo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l" sz="2000">
                <a:solidFill>
                  <a:schemeClr val="dk1"/>
                </a:solidFill>
              </a:rPr>
              <a:t>Agent</a:t>
            </a:r>
            <a:r>
              <a:rPr lang="el" sz="2000">
                <a:solidFill>
                  <a:schemeClr val="dk1"/>
                </a:solidFill>
              </a:rPr>
              <a:t>: </a:t>
            </a:r>
            <a:r>
              <a:rPr lang="el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gpt-4o-mini </a:t>
            </a:r>
            <a:r>
              <a:rPr lang="el" sz="2000">
                <a:solidFill>
                  <a:schemeClr val="dk1"/>
                </a:solidFill>
              </a:rPr>
              <a:t>| Tools: SerpAPI live Google results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l" sz="2000">
                <a:solidFill>
                  <a:schemeClr val="dk1"/>
                </a:solidFill>
              </a:rPr>
              <a:t>Memory</a:t>
            </a:r>
            <a:r>
              <a:rPr lang="el" sz="2000">
                <a:solidFill>
                  <a:schemeClr val="dk1"/>
                </a:solidFill>
              </a:rPr>
              <a:t>: Custom | 5 last </a:t>
            </a:r>
            <a:r>
              <a:rPr lang="el" sz="2000">
                <a:solidFill>
                  <a:schemeClr val="dk1"/>
                </a:solidFill>
              </a:rPr>
              <a:t>QA </a:t>
            </a:r>
            <a:r>
              <a:rPr lang="el" sz="2000">
                <a:solidFill>
                  <a:schemeClr val="dk1"/>
                </a:solidFill>
              </a:rPr>
              <a:t>entries </a:t>
            </a:r>
            <a:r>
              <a:rPr lang="el" sz="2000">
                <a:solidFill>
                  <a:schemeClr val="dk1"/>
                </a:solidFill>
              </a:rPr>
              <a:t>stored </a:t>
            </a:r>
            <a:r>
              <a:rPr lang="el" sz="2000">
                <a:solidFill>
                  <a:schemeClr val="dk1"/>
                </a:solidFill>
              </a:rPr>
              <a:t>as conversational context | Follow-up detection with memory recall | Prompt injection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l" sz="2000">
                <a:solidFill>
                  <a:schemeClr val="dk1"/>
                </a:solidFill>
              </a:rPr>
              <a:t>Frontend</a:t>
            </a:r>
            <a:r>
              <a:rPr lang="el" sz="2000">
                <a:solidFill>
                  <a:schemeClr val="dk1"/>
                </a:solidFill>
              </a:rPr>
              <a:t>: Gradio v</a:t>
            </a:r>
            <a:r>
              <a:rPr lang="el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l" sz="2000">
                <a:solidFill>
                  <a:schemeClr val="dk1"/>
                </a:solidFill>
              </a:rPr>
              <a:t> | Custom theme with css &amp; js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Prompt Analysis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the Chatbot Responds (What You See in Chat):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l"/>
              <a:t>RAG</a:t>
            </a:r>
            <a:r>
              <a:rPr lang="el"/>
              <a:t>: When the answer exists in the video knowledge base</a:t>
            </a:r>
            <a:br>
              <a:rPr lang="el"/>
            </a:br>
            <a:r>
              <a:rPr b="1" lang="el"/>
              <a:t>MEMORY</a:t>
            </a:r>
            <a:r>
              <a:rPr lang="el"/>
              <a:t>: Used when the user asks a follow-up question</a:t>
            </a:r>
            <a:br>
              <a:rPr lang="el"/>
            </a:br>
            <a:r>
              <a:rPr b="1" lang="el"/>
              <a:t>AGENT</a:t>
            </a:r>
            <a:r>
              <a:rPr lang="el"/>
              <a:t>: Used when RAG cannot answer. The agent triggers internet search via SerpAPI, processes the results, and returns a refined, up-to-date answer.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l"/>
              <a:t>FALLBACK</a:t>
            </a:r>
            <a:r>
              <a:rPr lang="el"/>
              <a:t>:Used when nothing else applies. If the model doesn’t call the search tool and RAG found no useful context, the system returns the default RAG message.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292500" y="2401025"/>
            <a:ext cx="8559000" cy="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DEMO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2" title="Demo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475" y="0"/>
            <a:ext cx="7453450" cy="559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0750" y="208213"/>
            <a:ext cx="5900476" cy="472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